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3"/>
          <p:cNvSpPr>
            <a:spLocks noChangeArrowheads="1"/>
          </p:cNvSpPr>
          <p:nvPr/>
        </p:nvSpPr>
        <p:spPr bwMode="auto">
          <a:xfrm>
            <a:off x="0" y="5414963"/>
            <a:ext cx="9144000" cy="1443037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5" name="Rectangle 31"/>
          <p:cNvSpPr>
            <a:spLocks noChangeArrowheads="1"/>
          </p:cNvSpPr>
          <p:nvPr/>
        </p:nvSpPr>
        <p:spPr bwMode="auto">
          <a:xfrm>
            <a:off x="0" y="-25400"/>
            <a:ext cx="9144000" cy="2382838"/>
          </a:xfrm>
          <a:prstGeom prst="rect">
            <a:avLst/>
          </a:prstGeom>
          <a:gradFill rotWithShape="1">
            <a:gsLst>
              <a:gs pos="0">
                <a:srgbClr val="33CC33">
                  <a:alpha val="85001"/>
                </a:srgbClr>
              </a:gs>
              <a:gs pos="100000">
                <a:schemeClr val="tx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black">
          <a:xfrm>
            <a:off x="6143625" y="6072188"/>
            <a:ext cx="2743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400">
                <a:solidFill>
                  <a:srgbClr val="FFFFFF"/>
                </a:solidFill>
                <a:latin typeface="华文楷体" pitchFamily="2" charset="-122"/>
                <a:ea typeface="华文楷体" pitchFamily="2" charset="-122"/>
                <a:cs typeface="+mn-cs"/>
              </a:rPr>
              <a:t>张波</a:t>
            </a:r>
            <a:r>
              <a:rPr lang="en-US" altLang="en-US" sz="16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  © 2009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65713"/>
            <a:ext cx="91440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34"/>
          <p:cNvSpPr>
            <a:spLocks noChangeArrowheads="1"/>
          </p:cNvSpPr>
          <p:nvPr/>
        </p:nvSpPr>
        <p:spPr bwMode="auto">
          <a:xfrm>
            <a:off x="5429250" y="6408738"/>
            <a:ext cx="368458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lnSpc>
                <a:spcPct val="98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altLang="en-US" sz="2400">
                <a:latin typeface="微软雅黑" pitchFamily="34" charset="-122"/>
                <a:ea typeface="微软雅黑" pitchFamily="34" charset="-122"/>
                <a:cs typeface="+mn-cs"/>
              </a:rPr>
              <a:t>zhangbo99@gmail.com</a:t>
            </a:r>
          </a:p>
        </p:txBody>
      </p:sp>
      <p:sp>
        <p:nvSpPr>
          <p:cNvPr id="59401" name="Rectangle 9"/>
          <p:cNvSpPr>
            <a:spLocks noGrp="1" noChangeArrowheads="1"/>
          </p:cNvSpPr>
          <p:nvPr>
            <p:ph type="ctrTitle"/>
          </p:nvPr>
        </p:nvSpPr>
        <p:spPr bwMode="black">
          <a:xfrm>
            <a:off x="355600" y="2011363"/>
            <a:ext cx="8456613" cy="646331"/>
          </a:xfrm>
        </p:spPr>
        <p:txBody>
          <a:bodyPr/>
          <a:lstStyle>
            <a:lvl1pPr algn="ctr">
              <a:defRPr sz="40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57158" y="3071810"/>
            <a:ext cx="8501122" cy="646331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lang="zh-CN" altLang="en-US" sz="3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514353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2071678"/>
            <a:ext cx="7772400" cy="646331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3" y="-24"/>
            <a:ext cx="8643998" cy="64633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3088" y="1000108"/>
            <a:ext cx="3968750" cy="182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4238" y="1000108"/>
            <a:ext cx="3970337" cy="182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80" y="-24"/>
            <a:ext cx="8229600" cy="57149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78579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42555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78579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2555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CN" altLang="en-US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+图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CN" altLang="en-US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285720" y="1000108"/>
            <a:ext cx="8715436" cy="142875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>
          <a:xfrm>
            <a:off x="285750" y="2500313"/>
            <a:ext cx="8715375" cy="36433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+内容+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CN" altLang="en-US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285720" y="2714620"/>
            <a:ext cx="8715436" cy="321471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>
          <a:xfrm>
            <a:off x="285750" y="928670"/>
            <a:ext cx="8715375" cy="17145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副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214313" y="0"/>
            <a:ext cx="8643937" cy="646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lang="zh-CN" altLang="en-US" b="1"/>
            </a:lvl1pPr>
          </a:lstStyle>
          <a:p>
            <a:pPr algn="r">
              <a:lnSpc>
                <a:spcPct val="90000"/>
              </a:lnSpc>
              <a:defRPr/>
            </a:pPr>
            <a:r>
              <a:rPr sz="4000" kern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rPr>
              <a:t>单击此处编辑母版标题样式</a:t>
            </a:r>
            <a:endParaRPr sz="4000" kern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000108"/>
            <a:ext cx="8186766" cy="480131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928802"/>
            <a:ext cx="8258204" cy="419736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444625"/>
            <a:ext cx="2025650" cy="27876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1444625"/>
            <a:ext cx="5924550" cy="27876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785794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5213" y="785794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14313" y="0"/>
            <a:ext cx="8643937" cy="646113"/>
          </a:xfrm>
        </p:spPr>
        <p:txBody>
          <a:bodyPr/>
          <a:lstStyle>
            <a:lvl1pPr>
              <a:defRPr lang="zh-CN" altLang="en-US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0350"/>
            <a:ext cx="8229600" cy="7921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4213" y="1412875"/>
            <a:ext cx="8229600" cy="4525963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5650" y="6381750"/>
            <a:ext cx="2133600" cy="2159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Arial" charset="0"/>
                <a:ea typeface="宋体" charset="-122"/>
                <a:cs typeface="+mn-cs"/>
              </a:defRPr>
            </a:lvl1pPr>
          </a:lstStyle>
          <a:p>
            <a:fld id="{D51E8CED-27BA-4912-B214-CA0126EB3FA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412875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5213" y="1412875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75213" y="3751263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4313" y="0"/>
            <a:ext cx="8643937" cy="646113"/>
          </a:xfrm>
        </p:spPr>
        <p:txBody>
          <a:bodyPr/>
          <a:lstStyle>
            <a:lvl1pPr>
              <a:defRPr lang="zh-CN" altLang="en-US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ChangeArrowheads="1"/>
          </p:cNvSpPr>
          <p:nvPr/>
        </p:nvSpPr>
        <p:spPr bwMode="auto">
          <a:xfrm>
            <a:off x="0" y="0"/>
            <a:ext cx="9072594" cy="615950"/>
          </a:xfrm>
          <a:prstGeom prst="rect">
            <a:avLst/>
          </a:prstGeom>
          <a:gradFill rotWithShape="1">
            <a:gsLst>
              <a:gs pos="0">
                <a:srgbClr val="00CC66"/>
              </a:gs>
              <a:gs pos="100000">
                <a:schemeClr val="tx1">
                  <a:alpha val="70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0"/>
            <a:ext cx="8643937" cy="646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en-US" smtClean="0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3088" y="785813"/>
            <a:ext cx="8091487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en-US" smtClean="0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black">
          <a:xfrm>
            <a:off x="1500188" y="714375"/>
            <a:ext cx="0" cy="23495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58380" name="Rectangle 12"/>
          <p:cNvSpPr>
            <a:spLocks noChangeArrowheads="1"/>
          </p:cNvSpPr>
          <p:nvPr/>
        </p:nvSpPr>
        <p:spPr bwMode="black">
          <a:xfrm>
            <a:off x="153988" y="6502400"/>
            <a:ext cx="1006475" cy="320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1418" tIns="45709" rIns="91418" bIns="45709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fld id="{57ABA6D8-E3FB-45C5-A6D2-402C388957BC}" type="slidenum">
              <a:rPr lang="en-US" altLang="en-US" sz="1200">
                <a:latin typeface="News Gothic" pitchFamily="34" charset="0"/>
                <a:ea typeface="宋体" charset="-122"/>
                <a:cs typeface="+mn-cs"/>
              </a:rPr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t>‹#›</a:t>
            </a:fld>
            <a:endParaRPr lang="en-US" altLang="en-US" sz="1200">
              <a:latin typeface="News Gothic" pitchFamily="34" charset="0"/>
              <a:ea typeface="宋体" charset="-122"/>
              <a:cs typeface="+mn-cs"/>
            </a:endParaRPr>
          </a:p>
        </p:txBody>
      </p:sp>
      <p:sp>
        <p:nvSpPr>
          <p:cNvPr id="58381" name="Rectangle 13"/>
          <p:cNvSpPr>
            <a:spLocks noChangeArrowheads="1"/>
          </p:cNvSpPr>
          <p:nvPr/>
        </p:nvSpPr>
        <p:spPr bwMode="black">
          <a:xfrm>
            <a:off x="1828800" y="6507163"/>
            <a:ext cx="594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8" tIns="45709" rIns="91418" bIns="45709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>
                <a:latin typeface="News Gothic" pitchFamily="34" charset="0"/>
                <a:ea typeface="宋体" charset="-122"/>
                <a:cs typeface="+mn-cs"/>
              </a:rPr>
              <a:t>Process and Portfolio Management</a:t>
            </a:r>
            <a:endParaRPr lang="en-US" altLang="en-US" sz="1200">
              <a:latin typeface="Courier New" pitchFamily="49" charset="0"/>
              <a:ea typeface="宋体" charset="-122"/>
              <a:cs typeface="+mn-cs"/>
            </a:endParaRPr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black">
          <a:xfrm>
            <a:off x="1447800" y="6475413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宋体" charset="-122"/>
              <a:cs typeface="+mn-cs"/>
            </a:endParaRPr>
          </a:p>
        </p:txBody>
      </p:sp>
      <p:pic>
        <p:nvPicPr>
          <p:cNvPr id="1033" name="Picture 20"/>
          <p:cNvPicPr>
            <a:picLocks noChangeAspect="1" noChangeArrowheads="1"/>
          </p:cNvPicPr>
          <p:nvPr/>
        </p:nvPicPr>
        <p:blipFill>
          <a:blip r:embed="rId19">
            <a:lum contrast="-54000"/>
          </a:blip>
          <a:srcRect/>
          <a:stretch>
            <a:fillRect/>
          </a:stretch>
        </p:blipFill>
        <p:spPr bwMode="auto">
          <a:xfrm>
            <a:off x="0" y="608013"/>
            <a:ext cx="9144000" cy="4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WordArt 22"/>
          <p:cNvSpPr>
            <a:spLocks noChangeArrowheads="1" noChangeShapeType="1" noTextEdit="1"/>
          </p:cNvSpPr>
          <p:nvPr/>
        </p:nvSpPr>
        <p:spPr bwMode="auto">
          <a:xfrm>
            <a:off x="4500563" y="6511925"/>
            <a:ext cx="4464050" cy="3460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endParaRPr lang="zh-CN" altLang="en-US" sz="3600" kern="10">
              <a:ln w="9525">
                <a:solidFill>
                  <a:srgbClr val="66FF66"/>
                </a:solidFill>
                <a:round/>
                <a:headEnd/>
                <a:tailEnd/>
              </a:ln>
              <a:solidFill>
                <a:srgbClr val="66FF66">
                  <a:alpha val="54901"/>
                </a:srgbClr>
              </a:solidFill>
              <a:latin typeface="黑体"/>
              <a:ea typeface="黑体"/>
            </a:endParaRPr>
          </a:p>
        </p:txBody>
      </p:sp>
      <p:pic>
        <p:nvPicPr>
          <p:cNvPr id="1035" name="Picture 23"/>
          <p:cNvPicPr>
            <a:picLocks noChangeAspect="1" noChangeArrowheads="1"/>
          </p:cNvPicPr>
          <p:nvPr/>
        </p:nvPicPr>
        <p:blipFill>
          <a:blip r:embed="rId20">
            <a:lum contrast="-72000"/>
          </a:blip>
          <a:srcRect/>
          <a:stretch>
            <a:fillRect/>
          </a:stretch>
        </p:blipFill>
        <p:spPr bwMode="auto">
          <a:xfrm>
            <a:off x="0" y="6272213"/>
            <a:ext cx="9144000" cy="4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微软雅黑" pitchFamily="34" charset="-122"/>
          <a:ea typeface="微软雅黑" pitchFamily="34" charset="-122"/>
          <a:cs typeface="+mj-cs"/>
        </a:defRPr>
      </a:lvl1pPr>
      <a:lvl2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微软雅黑" pitchFamily="34" charset="-122"/>
          <a:ea typeface="微软雅黑" pitchFamily="34" charset="-122"/>
          <a:cs typeface="Arial" charset="0"/>
        </a:defRPr>
      </a:lvl2pPr>
      <a:lvl3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微软雅黑" pitchFamily="34" charset="-122"/>
          <a:ea typeface="微软雅黑" pitchFamily="34" charset="-122"/>
          <a:cs typeface="Arial" charset="0"/>
        </a:defRPr>
      </a:lvl3pPr>
      <a:lvl4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微软雅黑" pitchFamily="34" charset="-122"/>
          <a:ea typeface="微软雅黑" pitchFamily="34" charset="-122"/>
          <a:cs typeface="Arial" charset="0"/>
        </a:defRPr>
      </a:lvl4pPr>
      <a:lvl5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微软雅黑" pitchFamily="34" charset="-122"/>
          <a:ea typeface="微软雅黑" pitchFamily="34" charset="-122"/>
          <a:cs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News Gothic" pitchFamily="34" charset="0"/>
          <a:cs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News Gothic" pitchFamily="34" charset="0"/>
          <a:cs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News Gothic" pitchFamily="34" charset="0"/>
          <a:cs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News Gothic" pitchFamily="34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ct val="25000"/>
        </a:spcBef>
        <a:spcAft>
          <a:spcPct val="1500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bg1"/>
          </a:solidFill>
          <a:latin typeface="微软雅黑" pitchFamily="34" charset="-122"/>
          <a:ea typeface="微软雅黑" pitchFamily="34" charset="-122"/>
          <a:cs typeface="+mn-cs"/>
        </a:defRPr>
      </a:lvl1pPr>
      <a:lvl2pPr marL="457200" indent="-227013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Webdings" pitchFamily="18" charset="2"/>
        <a:buChar char="4"/>
        <a:defRPr sz="2400">
          <a:solidFill>
            <a:schemeClr val="bg1"/>
          </a:solidFill>
          <a:latin typeface="微软雅黑" pitchFamily="34" charset="-122"/>
          <a:ea typeface="微软雅黑" pitchFamily="34" charset="-122"/>
          <a:cs typeface="+mn-cs"/>
        </a:defRPr>
      </a:lvl2pPr>
      <a:lvl3pPr marL="682625" indent="-223838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bg1"/>
          </a:solidFill>
          <a:latin typeface="微软雅黑" pitchFamily="34" charset="-122"/>
          <a:ea typeface="微软雅黑" pitchFamily="34" charset="-122"/>
          <a:cs typeface="+mn-cs"/>
        </a:defRPr>
      </a:lvl3pPr>
      <a:lvl4pPr marL="912813" indent="-228600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Arial" pitchFamily="34" charset="0"/>
        <a:buChar char="–"/>
        <a:defRPr>
          <a:solidFill>
            <a:schemeClr val="bg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143000" indent="-228600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Arial" pitchFamily="34" charset="0"/>
        <a:buChar char="–"/>
        <a:defRPr sz="1600">
          <a:solidFill>
            <a:schemeClr val="bg1"/>
          </a:solidFill>
          <a:latin typeface="微软雅黑" pitchFamily="34" charset="-122"/>
          <a:ea typeface="微软雅黑" pitchFamily="34" charset="-122"/>
          <a:cs typeface="+mn-cs"/>
        </a:defRPr>
      </a:lvl5pPr>
      <a:lvl6pPr marL="1600200" indent="-228600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Arial" charset="0"/>
        <a:buChar char="–"/>
        <a:defRPr sz="1400">
          <a:solidFill>
            <a:schemeClr val="bg1"/>
          </a:solidFill>
          <a:latin typeface="+mn-lt"/>
          <a:cs typeface="+mn-cs"/>
        </a:defRPr>
      </a:lvl6pPr>
      <a:lvl7pPr marL="2057400" indent="-228600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Arial" charset="0"/>
        <a:buChar char="–"/>
        <a:defRPr sz="1400">
          <a:solidFill>
            <a:schemeClr val="bg1"/>
          </a:solidFill>
          <a:latin typeface="+mn-lt"/>
          <a:cs typeface="+mn-cs"/>
        </a:defRPr>
      </a:lvl7pPr>
      <a:lvl8pPr marL="2514600" indent="-228600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Arial" charset="0"/>
        <a:buChar char="–"/>
        <a:defRPr sz="1400">
          <a:solidFill>
            <a:schemeClr val="bg1"/>
          </a:solidFill>
          <a:latin typeface="+mn-lt"/>
          <a:cs typeface="+mn-cs"/>
        </a:defRPr>
      </a:lvl8pPr>
      <a:lvl9pPr marL="2971800" indent="-228600" algn="l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Arial" charset="0"/>
        <a:buChar char="–"/>
        <a:defRPr sz="1400">
          <a:solidFill>
            <a:schemeClr val="bg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jQuery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altLang="en-US" smtClean="0"/>
              <a:t>新</a:t>
            </a:r>
            <a:r>
              <a:rPr lang="en-US" altLang="en-US" smtClean="0"/>
              <a:t>的javascript客户端类库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版本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1729704"/>
          </a:xfrm>
        </p:spPr>
        <p:txBody>
          <a:bodyPr/>
          <a:lstStyle/>
          <a:p>
            <a:r>
              <a:rPr lang="en-US" altLang="zh-CN" smtClean="0"/>
              <a:t>1.2.6</a:t>
            </a:r>
          </a:p>
          <a:p>
            <a:r>
              <a:rPr lang="en-US" altLang="zh-CN" smtClean="0"/>
              <a:t>1.3</a:t>
            </a:r>
          </a:p>
          <a:p>
            <a:r>
              <a:rPr lang="en-US" altLang="zh-CN" smtClean="0"/>
              <a:t>1.4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为什么使用</a:t>
            </a:r>
            <a:r>
              <a:rPr lang="en-US" altLang="zh-CN" smtClean="0"/>
              <a:t>jQuery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4976747"/>
          </a:xfrm>
        </p:spPr>
        <p:txBody>
          <a:bodyPr/>
          <a:lstStyle/>
          <a:p>
            <a:r>
              <a:rPr lang="en-US" altLang="zh-CN" smtClean="0"/>
              <a:t>其他 :</a:t>
            </a:r>
          </a:p>
          <a:p>
            <a:pPr lvl="1"/>
            <a:r>
              <a:rPr lang="en-US" altLang="zh-CN" smtClean="0"/>
              <a:t>Prototype</a:t>
            </a:r>
          </a:p>
          <a:p>
            <a:pPr lvl="1"/>
            <a:r>
              <a:rPr lang="en-US" altLang="zh-CN" smtClean="0"/>
              <a:t>Ext</a:t>
            </a:r>
          </a:p>
          <a:p>
            <a:pPr lvl="1"/>
            <a:r>
              <a:rPr lang="en-US" altLang="zh-CN" smtClean="0"/>
              <a:t>YUI(yahoo!)</a:t>
            </a:r>
          </a:p>
          <a:p>
            <a:r>
              <a:rPr lang="en-US" altLang="zh-CN" smtClean="0"/>
              <a:t>jQuery</a:t>
            </a:r>
          </a:p>
          <a:p>
            <a:pPr lvl="1"/>
            <a:r>
              <a:rPr lang="zh-CN" altLang="en-US" smtClean="0"/>
              <a:t>上手快</a:t>
            </a:r>
            <a:r>
              <a:rPr lang="en-US" altLang="zh-CN" smtClean="0"/>
              <a:t>,简单</a:t>
            </a:r>
          </a:p>
          <a:p>
            <a:pPr lvl="1"/>
            <a:r>
              <a:rPr lang="en-US" altLang="zh-CN" smtClean="0"/>
              <a:t>VS.NET支持jQuery的感知</a:t>
            </a:r>
          </a:p>
          <a:p>
            <a:pPr lvl="1"/>
            <a:r>
              <a:rPr lang="zh-CN" altLang="en-US" smtClean="0"/>
              <a:t>体积小</a:t>
            </a:r>
            <a:endParaRPr lang="en-US" altLang="zh-CN" smtClean="0"/>
          </a:p>
          <a:p>
            <a:pPr lvl="1"/>
            <a:r>
              <a:rPr lang="zh-CN" altLang="en-US" smtClean="0"/>
              <a:t>允许速度快</a:t>
            </a:r>
            <a:endParaRPr lang="en-US" altLang="zh-CN" smtClean="0"/>
          </a:p>
          <a:p>
            <a:pPr lvl="1"/>
            <a:r>
              <a:rPr lang="zh-CN" altLang="en-US" b="1" smtClean="0"/>
              <a:t>插件丰富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如何在项目中使用</a:t>
            </a:r>
            <a:r>
              <a:rPr lang="en-US" altLang="zh-CN" smtClean="0"/>
              <a:t>jQuery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4643470"/>
          </a:xfrm>
        </p:spPr>
        <p:txBody>
          <a:bodyPr>
            <a:normAutofit lnSpcReduction="10000"/>
          </a:bodyPr>
          <a:lstStyle/>
          <a:p>
            <a:r>
              <a:rPr lang="en-US" altLang="zh-CN" sz="2400" smtClean="0"/>
              <a:t>准备jQuery的js文件</a:t>
            </a:r>
          </a:p>
          <a:p>
            <a:r>
              <a:rPr lang="zh-CN" altLang="en-US" smtClean="0"/>
              <a:t>建立网站</a:t>
            </a:r>
            <a:endParaRPr lang="en-US" altLang="zh-CN" smtClean="0"/>
          </a:p>
          <a:p>
            <a:r>
              <a:rPr lang="zh-CN" altLang="en-US" smtClean="0"/>
              <a:t>复制</a:t>
            </a:r>
            <a:r>
              <a:rPr lang="en-US" altLang="zh-CN" smtClean="0"/>
              <a:t>js文件到</a:t>
            </a:r>
            <a:r>
              <a:rPr lang="zh-CN" altLang="en-US" smtClean="0"/>
              <a:t>网站中</a:t>
            </a:r>
            <a:endParaRPr lang="en-US" altLang="zh-CN" smtClean="0"/>
          </a:p>
          <a:p>
            <a:r>
              <a:rPr lang="zh-CN" altLang="en-US" smtClean="0"/>
              <a:t>在需要使用的页面</a:t>
            </a:r>
            <a:r>
              <a:rPr lang="en-US" altLang="zh-CN" smtClean="0"/>
              <a:t>,添加引用 </a:t>
            </a:r>
          </a:p>
          <a:p>
            <a:pPr lvl="1"/>
            <a:r>
              <a:rPr lang="zh-CN" altLang="en-US" smtClean="0"/>
              <a:t>在</a:t>
            </a:r>
            <a:r>
              <a:rPr lang="en-US" altLang="zh-CN" smtClean="0"/>
              <a:t>&lt;head&gt;里</a:t>
            </a:r>
            <a:br>
              <a:rPr lang="en-US" altLang="zh-CN" smtClean="0"/>
            </a:br>
            <a:r>
              <a:rPr lang="en-US" altLang="zh-CN" smtClean="0">
                <a:solidFill>
                  <a:srgbClr val="0000FF"/>
                </a:solidFill>
              </a:rPr>
              <a:t>&lt;</a:t>
            </a:r>
            <a:r>
              <a:rPr lang="en-US" altLang="zh-CN" smtClean="0">
                <a:solidFill>
                  <a:srgbClr val="A31515"/>
                </a:solidFill>
              </a:rPr>
              <a:t>script </a:t>
            </a:r>
            <a:r>
              <a:rPr lang="en-US" altLang="zh-CN" smtClean="0">
                <a:solidFill>
                  <a:srgbClr val="FF0000"/>
                </a:solidFill>
              </a:rPr>
              <a:t>src</a:t>
            </a:r>
            <a:r>
              <a:rPr lang="en-US" altLang="zh-CN" smtClean="0">
                <a:solidFill>
                  <a:srgbClr val="0000FF"/>
                </a:solidFill>
              </a:rPr>
              <a:t>="jsLib/jquery.js" </a:t>
            </a:r>
            <a:r>
              <a:rPr lang="en-US" altLang="zh-CN" smtClean="0">
                <a:solidFill>
                  <a:srgbClr val="FF0000"/>
                </a:solidFill>
              </a:rPr>
              <a:t>type</a:t>
            </a:r>
            <a:r>
              <a:rPr lang="en-US" altLang="zh-CN" smtClean="0">
                <a:solidFill>
                  <a:srgbClr val="0000FF"/>
                </a:solidFill>
              </a:rPr>
              <a:t>="text/javascript"&gt;&lt;/</a:t>
            </a:r>
            <a:r>
              <a:rPr lang="en-US" altLang="zh-CN" smtClean="0">
                <a:solidFill>
                  <a:srgbClr val="A31515"/>
                </a:solidFill>
              </a:rPr>
              <a:t>script</a:t>
            </a:r>
            <a:r>
              <a:rPr lang="en-US" altLang="zh-CN" smtClean="0">
                <a:solidFill>
                  <a:srgbClr val="0000FF"/>
                </a:solidFill>
              </a:rPr>
              <a:t>&gt;</a:t>
            </a:r>
            <a:endParaRPr lang="en-US" altLang="zh-CN" smtClean="0"/>
          </a:p>
          <a:p>
            <a:pPr lvl="1"/>
            <a:r>
              <a:rPr lang="zh-CN" altLang="en-US" smtClean="0"/>
              <a:t>在</a:t>
            </a:r>
            <a:r>
              <a:rPr lang="en-US" altLang="zh-CN" smtClean="0"/>
              <a:t>&lt;asp:scriptmanager&gt;里</a:t>
            </a:r>
            <a:br>
              <a:rPr lang="en-US" altLang="zh-CN" smtClean="0"/>
            </a:br>
            <a:r>
              <a:rPr lang="en-US" altLang="zh-CN" smtClean="0">
                <a:solidFill>
                  <a:srgbClr val="0000FF"/>
                </a:solidFill>
              </a:rPr>
              <a:t>&lt;</a:t>
            </a:r>
            <a:r>
              <a:rPr lang="en-US" altLang="zh-CN" smtClean="0">
                <a:solidFill>
                  <a:srgbClr val="A31515"/>
                </a:solidFill>
              </a:rPr>
              <a:t>asp</a:t>
            </a:r>
            <a:r>
              <a:rPr lang="en-US" altLang="zh-CN" smtClean="0">
                <a:solidFill>
                  <a:srgbClr val="0000FF"/>
                </a:solidFill>
              </a:rPr>
              <a:t>:</a:t>
            </a:r>
            <a:r>
              <a:rPr lang="en-US" altLang="zh-CN" smtClean="0">
                <a:solidFill>
                  <a:srgbClr val="A31515"/>
                </a:solidFill>
              </a:rPr>
              <a:t>ScriptReference </a:t>
            </a:r>
            <a:r>
              <a:rPr lang="en-US" altLang="zh-CN" smtClean="0">
                <a:solidFill>
                  <a:srgbClr val="FF0000"/>
                </a:solidFill>
              </a:rPr>
              <a:t>Path</a:t>
            </a:r>
            <a:r>
              <a:rPr lang="en-US" altLang="zh-CN" smtClean="0">
                <a:solidFill>
                  <a:srgbClr val="0000FF"/>
                </a:solidFill>
              </a:rPr>
              <a:t>="~/jsLib/jquery.js" /&gt;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</a:rPr>
              <a:t>其他</a:t>
            </a:r>
            <a:r>
              <a:rPr lang="en-US" altLang="zh-CN" smtClean="0">
                <a:solidFill>
                  <a:srgbClr val="0000FF"/>
                </a:solidFill>
              </a:rPr>
              <a:t>….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常见使用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523220"/>
          </a:xfrm>
        </p:spPr>
        <p:txBody>
          <a:bodyPr/>
          <a:lstStyle/>
          <a:p>
            <a:r>
              <a:rPr lang="zh-CN" altLang="en-US" smtClean="0"/>
              <a:t>在页面在客户端加载完毕后</a:t>
            </a:r>
            <a:r>
              <a:rPr lang="en-US" altLang="zh-CN" smtClean="0"/>
              <a:t>,执行特定操作?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28662" y="1720840"/>
            <a:ext cx="728667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mtClean="0"/>
          </a:p>
          <a:p>
            <a:r>
              <a:rPr lang="en-US" altLang="zh-CN" smtClean="0"/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&lt;</a:t>
            </a:r>
            <a:r>
              <a:rPr lang="en-US" altLang="zh-CN" smtClean="0">
                <a:solidFill>
                  <a:srgbClr val="A31515"/>
                </a:solidFill>
              </a:rPr>
              <a:t>script </a:t>
            </a:r>
            <a:r>
              <a:rPr lang="en-US" altLang="zh-CN" smtClean="0">
                <a:solidFill>
                  <a:srgbClr val="FF0000"/>
                </a:solidFill>
              </a:rPr>
              <a:t>type</a:t>
            </a:r>
            <a:r>
              <a:rPr lang="en-US" altLang="zh-CN" smtClean="0">
                <a:solidFill>
                  <a:srgbClr val="0000FF"/>
                </a:solidFill>
              </a:rPr>
              <a:t>="text/javascript"&gt;</a:t>
            </a:r>
          </a:p>
          <a:p>
            <a:r>
              <a:rPr lang="en-US" altLang="zh-CN" smtClean="0">
                <a:solidFill>
                  <a:srgbClr val="0000FF"/>
                </a:solidFill>
              </a:rPr>
              <a:t>        $(document).ready(function() {</a:t>
            </a:r>
          </a:p>
          <a:p>
            <a:r>
              <a:rPr lang="en-US" altLang="zh-CN" smtClean="0">
                <a:solidFill>
                  <a:srgbClr val="0000FF"/>
                </a:solidFill>
              </a:rPr>
              <a:t>            alert(</a:t>
            </a:r>
            <a:r>
              <a:rPr lang="en-US" altLang="zh-CN" smtClean="0">
                <a:solidFill>
                  <a:srgbClr val="A31515"/>
                </a:solidFill>
              </a:rPr>
              <a:t>"</a:t>
            </a:r>
            <a:r>
              <a:rPr lang="zh-CN" altLang="en-US" smtClean="0">
                <a:solidFill>
                  <a:srgbClr val="A31515"/>
                </a:solidFill>
              </a:rPr>
              <a:t>加载完毕</a:t>
            </a:r>
            <a:r>
              <a:rPr lang="en-US" altLang="zh-CN" smtClean="0">
                <a:solidFill>
                  <a:srgbClr val="A31515"/>
                </a:solidFill>
              </a:rPr>
              <a:t>1");</a:t>
            </a:r>
          </a:p>
          <a:p>
            <a:r>
              <a:rPr lang="zh-CN" altLang="en-US" smtClean="0">
                <a:solidFill>
                  <a:srgbClr val="A31515"/>
                </a:solidFill>
              </a:rPr>
              <a:t>        </a:t>
            </a:r>
            <a:r>
              <a:rPr lang="en-US" altLang="zh-CN" smtClean="0">
                <a:solidFill>
                  <a:srgbClr val="A31515"/>
                </a:solidFill>
              </a:rPr>
              <a:t>});</a:t>
            </a:r>
          </a:p>
          <a:p>
            <a:endParaRPr lang="en-US" altLang="zh-CN" smtClean="0">
              <a:solidFill>
                <a:srgbClr val="A31515"/>
              </a:solidFill>
            </a:endParaRPr>
          </a:p>
          <a:p>
            <a:r>
              <a:rPr lang="en-US" altLang="zh-CN" smtClean="0">
                <a:solidFill>
                  <a:srgbClr val="A31515"/>
                </a:solidFill>
              </a:rPr>
              <a:t>$(function(){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});</a:t>
            </a:r>
          </a:p>
          <a:p>
            <a:endParaRPr lang="zh-CN" altLang="en-US" smtClean="0">
              <a:solidFill>
                <a:srgbClr val="A31515"/>
              </a:solidFill>
            </a:endParaRPr>
          </a:p>
          <a:p>
            <a:r>
              <a:rPr lang="en-US" altLang="zh-CN" smtClean="0">
                <a:solidFill>
                  <a:srgbClr val="A31515"/>
                </a:solidFill>
              </a:rPr>
              <a:t>        $(document).ready(init);</a:t>
            </a:r>
          </a:p>
          <a:p>
            <a:endParaRPr lang="zh-CN" altLang="en-US" smtClean="0">
              <a:solidFill>
                <a:srgbClr val="A31515"/>
              </a:solidFill>
            </a:endParaRPr>
          </a:p>
          <a:p>
            <a:r>
              <a:rPr lang="en-US" altLang="zh-CN" smtClean="0">
                <a:solidFill>
                  <a:srgbClr val="A31515"/>
                </a:solidFill>
              </a:rPr>
              <a:t>        </a:t>
            </a:r>
            <a:r>
              <a:rPr lang="en-US" altLang="zh-CN" smtClean="0">
                <a:solidFill>
                  <a:srgbClr val="0000FF"/>
                </a:solidFill>
              </a:rPr>
              <a:t>function init() {</a:t>
            </a:r>
          </a:p>
          <a:p>
            <a:r>
              <a:rPr lang="en-US" altLang="zh-CN" smtClean="0">
                <a:solidFill>
                  <a:srgbClr val="0000FF"/>
                </a:solidFill>
              </a:rPr>
              <a:t>            alert(</a:t>
            </a:r>
            <a:r>
              <a:rPr lang="en-US" altLang="zh-CN" smtClean="0">
                <a:solidFill>
                  <a:srgbClr val="A31515"/>
                </a:solidFill>
              </a:rPr>
              <a:t>"</a:t>
            </a:r>
            <a:r>
              <a:rPr lang="zh-CN" altLang="en-US" smtClean="0">
                <a:solidFill>
                  <a:srgbClr val="A31515"/>
                </a:solidFill>
              </a:rPr>
              <a:t>加载完毕</a:t>
            </a:r>
            <a:r>
              <a:rPr lang="en-US" altLang="zh-CN" smtClean="0">
                <a:solidFill>
                  <a:srgbClr val="A31515"/>
                </a:solidFill>
              </a:rPr>
              <a:t>,</a:t>
            </a:r>
            <a:r>
              <a:rPr lang="zh-CN" altLang="en-US" smtClean="0">
                <a:solidFill>
                  <a:srgbClr val="A31515"/>
                </a:solidFill>
              </a:rPr>
              <a:t>开始初始化</a:t>
            </a:r>
            <a:r>
              <a:rPr lang="en-US" altLang="zh-CN" smtClean="0">
                <a:solidFill>
                  <a:srgbClr val="A31515"/>
                </a:solidFill>
              </a:rPr>
              <a:t>");</a:t>
            </a:r>
          </a:p>
          <a:p>
            <a:r>
              <a:rPr lang="zh-CN" altLang="en-US" smtClean="0">
                <a:solidFill>
                  <a:srgbClr val="A31515"/>
                </a:solidFill>
              </a:rPr>
              <a:t>        </a:t>
            </a:r>
            <a:r>
              <a:rPr lang="en-US" altLang="zh-CN" smtClean="0">
                <a:solidFill>
                  <a:srgbClr val="A31515"/>
                </a:solidFill>
              </a:rPr>
              <a:t>}        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&lt;/</a:t>
            </a:r>
            <a:r>
              <a:rPr lang="en-US" altLang="zh-CN" smtClean="0">
                <a:solidFill>
                  <a:srgbClr val="A31515"/>
                </a:solidFill>
              </a:rPr>
              <a:t>script</a:t>
            </a:r>
            <a:r>
              <a:rPr lang="en-US" altLang="zh-CN" smtClean="0">
                <a:solidFill>
                  <a:srgbClr val="0000FF"/>
                </a:solidFill>
              </a:rPr>
              <a:t>&gt;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常见使用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1972848"/>
          </a:xfrm>
        </p:spPr>
        <p:txBody>
          <a:bodyPr/>
          <a:lstStyle/>
          <a:p>
            <a:r>
              <a:rPr lang="zh-CN" altLang="en-US" smtClean="0"/>
              <a:t>如何把直接嵌套在</a:t>
            </a:r>
            <a:r>
              <a:rPr lang="en-US" altLang="zh-CN" smtClean="0"/>
              <a:t>HTML文件中的js代码分离?</a:t>
            </a:r>
          </a:p>
          <a:p>
            <a:pPr lvl="1"/>
            <a:r>
              <a:rPr lang="zh-CN" altLang="en-US" smtClean="0"/>
              <a:t>建立单独的</a:t>
            </a:r>
            <a:r>
              <a:rPr lang="en-US" altLang="zh-CN" smtClean="0"/>
              <a:t>js文件</a:t>
            </a:r>
          </a:p>
          <a:p>
            <a:pPr lvl="1"/>
            <a:r>
              <a:rPr lang="zh-CN" altLang="en-US" smtClean="0"/>
              <a:t>把原来的</a:t>
            </a:r>
            <a:r>
              <a:rPr lang="en-US" altLang="zh-CN" smtClean="0"/>
              <a:t>js代码复制到js文件</a:t>
            </a:r>
          </a:p>
          <a:p>
            <a:pPr lvl="1"/>
            <a:r>
              <a:rPr lang="zh-CN" altLang="en-US" smtClean="0"/>
              <a:t>在</a:t>
            </a:r>
            <a:r>
              <a:rPr lang="en-US" altLang="zh-CN" smtClean="0"/>
              <a:t>HTML中引用js文件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常见使用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1692771"/>
          </a:xfrm>
        </p:spPr>
        <p:txBody>
          <a:bodyPr/>
          <a:lstStyle/>
          <a:p>
            <a:r>
              <a:rPr lang="zh-CN" altLang="en-US" sz="2000" smtClean="0"/>
              <a:t>在单独的</a:t>
            </a:r>
            <a:r>
              <a:rPr lang="en-US" altLang="zh-CN" sz="2000" smtClean="0"/>
              <a:t>js文件中,没有了对jQuery的智能感知</a:t>
            </a:r>
          </a:p>
          <a:p>
            <a:r>
              <a:rPr lang="zh-CN" altLang="en-US" sz="2000" smtClean="0"/>
              <a:t>在单独的</a:t>
            </a:r>
            <a:r>
              <a:rPr lang="en-US" altLang="zh-CN" sz="2000" smtClean="0"/>
              <a:t>js文件中,没有了对ASP.NET AJAX 客户端类库的智能感知</a:t>
            </a:r>
          </a:p>
          <a:p>
            <a:endParaRPr lang="en-US" altLang="zh-CN" sz="2000" smtClean="0"/>
          </a:p>
          <a:p>
            <a:r>
              <a:rPr lang="zh-CN" altLang="en-US" sz="2000" smtClean="0"/>
              <a:t>在</a:t>
            </a:r>
            <a:r>
              <a:rPr lang="en-US" altLang="zh-CN" sz="2000" smtClean="0"/>
              <a:t>js文件的头部,添加:</a:t>
            </a:r>
          </a:p>
        </p:txBody>
      </p:sp>
      <p:sp>
        <p:nvSpPr>
          <p:cNvPr id="4" name="矩形 3"/>
          <p:cNvSpPr/>
          <p:nvPr/>
        </p:nvSpPr>
        <p:spPr>
          <a:xfrm>
            <a:off x="857224" y="2967335"/>
            <a:ext cx="72152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mtClean="0">
                <a:solidFill>
                  <a:srgbClr val="008000"/>
                </a:solidFill>
              </a:rPr>
              <a:t>/// &lt;reference path="../jsLib/jquery-vsdoc-cn.js" /&gt;</a:t>
            </a:r>
          </a:p>
          <a:p>
            <a:r>
              <a:rPr lang="en-US" altLang="zh-CN" smtClean="0">
                <a:solidFill>
                  <a:srgbClr val="008000"/>
                </a:solidFill>
              </a:rPr>
              <a:t>/// &lt;reference name="MicrosoftAjax.js"/&gt;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常见使用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1972848"/>
          </a:xfrm>
        </p:spPr>
        <p:txBody>
          <a:bodyPr/>
          <a:lstStyle/>
          <a:p>
            <a:r>
              <a:rPr lang="zh-CN" altLang="en-US" smtClean="0"/>
              <a:t>如何查找到页面中的某个元素</a:t>
            </a:r>
            <a:r>
              <a:rPr lang="en-US" altLang="zh-CN" smtClean="0"/>
              <a:t>(DOM)?</a:t>
            </a:r>
          </a:p>
          <a:p>
            <a:pPr lvl="1"/>
            <a:r>
              <a:rPr lang="zh-CN" altLang="en-US" smtClean="0"/>
              <a:t>按</a:t>
            </a:r>
            <a:r>
              <a:rPr lang="en-US" altLang="zh-CN" smtClean="0"/>
              <a:t>ID</a:t>
            </a:r>
          </a:p>
          <a:p>
            <a:pPr lvl="1"/>
            <a:r>
              <a:rPr lang="zh-CN" altLang="en-US" smtClean="0"/>
              <a:t>按</a:t>
            </a:r>
            <a:r>
              <a:rPr lang="en-US" altLang="zh-CN" smtClean="0"/>
              <a:t>css样式名</a:t>
            </a:r>
          </a:p>
          <a:p>
            <a:pPr lvl="1"/>
            <a:r>
              <a:rPr lang="zh-CN" altLang="en-US" smtClean="0"/>
              <a:t>按特定属性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85868" y="3371679"/>
            <a:ext cx="5715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mtClean="0"/>
          </a:p>
          <a:p>
            <a:r>
              <a:rPr lang="en-US" altLang="zh-CN" smtClean="0"/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var username = $(</a:t>
            </a:r>
            <a:r>
              <a:rPr lang="en-US" altLang="zh-CN" smtClean="0">
                <a:solidFill>
                  <a:srgbClr val="A31515"/>
                </a:solidFill>
              </a:rPr>
              <a:t>"#txtUserName").val();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var password = $(</a:t>
            </a:r>
            <a:r>
              <a:rPr lang="en-US" altLang="zh-CN" smtClean="0">
                <a:solidFill>
                  <a:srgbClr val="A31515"/>
                </a:solidFill>
              </a:rPr>
              <a:t>".pwd").val();</a:t>
            </a:r>
          </a:p>
          <a:p>
            <a:r>
              <a:rPr lang="sv-SE" altLang="zh-CN" smtClean="0">
                <a:solidFill>
                  <a:srgbClr val="A31515"/>
                </a:solidFill>
              </a:rPr>
              <a:t>    </a:t>
            </a:r>
            <a:r>
              <a:rPr lang="sv-SE" altLang="zh-CN" smtClean="0">
                <a:solidFill>
                  <a:srgbClr val="0000FF"/>
                </a:solidFill>
              </a:rPr>
              <a:t>var tag = $(</a:t>
            </a:r>
            <a:r>
              <a:rPr lang="sv-SE" altLang="zh-CN" smtClean="0">
                <a:solidFill>
                  <a:srgbClr val="A31515"/>
                </a:solidFill>
              </a:rPr>
              <a:t>".[mytag='1']").val();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常见使用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523220"/>
          </a:xfrm>
        </p:spPr>
        <p:txBody>
          <a:bodyPr/>
          <a:lstStyle/>
          <a:p>
            <a:r>
              <a:rPr lang="zh-CN" altLang="en-US" smtClean="0"/>
              <a:t>如何动态添加元素的事件注册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42910" y="1485206"/>
            <a:ext cx="800105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mtClean="0"/>
          </a:p>
          <a:p>
            <a:r>
              <a:rPr lang="en-US" altLang="zh-CN" smtClean="0">
                <a:solidFill>
                  <a:srgbClr val="0000FF"/>
                </a:solidFill>
              </a:rPr>
              <a:t>function showinfo() {</a:t>
            </a:r>
          </a:p>
          <a:p>
            <a:r>
              <a:rPr lang="en-US" altLang="zh-CN" smtClean="0">
                <a:solidFill>
                  <a:srgbClr val="0000FF"/>
                </a:solidFill>
              </a:rPr>
              <a:t>    var username = $(</a:t>
            </a:r>
            <a:r>
              <a:rPr lang="en-US" altLang="zh-CN" smtClean="0">
                <a:solidFill>
                  <a:srgbClr val="A31515"/>
                </a:solidFill>
              </a:rPr>
              <a:t>"#txtUserName").val();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var password = $(</a:t>
            </a:r>
            <a:r>
              <a:rPr lang="en-US" altLang="zh-CN" smtClean="0">
                <a:solidFill>
                  <a:srgbClr val="A31515"/>
                </a:solidFill>
              </a:rPr>
              <a:t>".pwd").val();</a:t>
            </a:r>
          </a:p>
          <a:p>
            <a:r>
              <a:rPr lang="sv-SE" altLang="zh-CN" smtClean="0">
                <a:solidFill>
                  <a:srgbClr val="A31515"/>
                </a:solidFill>
              </a:rPr>
              <a:t>    </a:t>
            </a:r>
            <a:r>
              <a:rPr lang="sv-SE" altLang="zh-CN" smtClean="0">
                <a:solidFill>
                  <a:srgbClr val="0000FF"/>
                </a:solidFill>
              </a:rPr>
              <a:t>var tag = $(</a:t>
            </a:r>
            <a:r>
              <a:rPr lang="sv-SE" altLang="zh-CN" smtClean="0">
                <a:solidFill>
                  <a:srgbClr val="A31515"/>
                </a:solidFill>
              </a:rPr>
              <a:t>".[mytag='1']").val();</a:t>
            </a:r>
          </a:p>
          <a:p>
            <a:endParaRPr lang="zh-CN" altLang="en-US" smtClean="0">
              <a:solidFill>
                <a:srgbClr val="A31515"/>
              </a:solidFill>
            </a:endParaRPr>
          </a:p>
          <a:p>
            <a:r>
              <a:rPr lang="en-US" altLang="zh-CN" smtClean="0">
                <a:solidFill>
                  <a:srgbClr val="A31515"/>
                </a:solidFill>
              </a:rPr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var divinfo = $(</a:t>
            </a:r>
            <a:r>
              <a:rPr lang="en-US" altLang="zh-CN" smtClean="0">
                <a:solidFill>
                  <a:srgbClr val="A31515"/>
                </a:solidFill>
              </a:rPr>
              <a:t>"#result");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var tmp = </a:t>
            </a:r>
            <a:r>
              <a:rPr lang="en-US" altLang="zh-CN" smtClean="0">
                <a:solidFill>
                  <a:srgbClr val="A31515"/>
                </a:solidFill>
              </a:rPr>
              <a:t>"</a:t>
            </a:r>
            <a:r>
              <a:rPr lang="zh-CN" altLang="en-US" smtClean="0">
                <a:solidFill>
                  <a:srgbClr val="A31515"/>
                </a:solidFill>
              </a:rPr>
              <a:t>用户名</a:t>
            </a:r>
            <a:r>
              <a:rPr lang="en-US" altLang="zh-CN" smtClean="0">
                <a:solidFill>
                  <a:srgbClr val="A31515"/>
                </a:solidFill>
              </a:rPr>
              <a:t>:" + username + "&lt;br/&gt;" + "</a:t>
            </a:r>
            <a:r>
              <a:rPr lang="zh-CN" altLang="en-US" smtClean="0">
                <a:solidFill>
                  <a:srgbClr val="A31515"/>
                </a:solidFill>
              </a:rPr>
              <a:t>密码</a:t>
            </a:r>
            <a:r>
              <a:rPr lang="en-US" altLang="zh-CN" smtClean="0">
                <a:solidFill>
                  <a:srgbClr val="A31515"/>
                </a:solidFill>
              </a:rPr>
              <a:t>:" + password + "&lt;br/&gt;</a:t>
            </a:r>
            <a:r>
              <a:rPr lang="zh-CN" altLang="en-US" smtClean="0">
                <a:solidFill>
                  <a:srgbClr val="A31515"/>
                </a:solidFill>
              </a:rPr>
              <a:t>自定义</a:t>
            </a:r>
            <a:r>
              <a:rPr lang="en-US" altLang="zh-CN" smtClean="0">
                <a:solidFill>
                  <a:srgbClr val="A31515"/>
                </a:solidFill>
              </a:rPr>
              <a:t>:" + tag;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    divinfo.html(tmp);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}</a:t>
            </a:r>
          </a:p>
          <a:p>
            <a:endParaRPr lang="zh-CN" altLang="en-US" smtClean="0">
              <a:solidFill>
                <a:srgbClr val="A31515"/>
              </a:solidFill>
            </a:endParaRPr>
          </a:p>
          <a:p>
            <a:r>
              <a:rPr lang="en-US" altLang="zh-CN" smtClean="0">
                <a:solidFill>
                  <a:srgbClr val="A31515"/>
                </a:solidFill>
              </a:rPr>
              <a:t>$(document).ready(</a:t>
            </a:r>
            <a:r>
              <a:rPr lang="en-US" altLang="zh-CN" smtClean="0">
                <a:solidFill>
                  <a:srgbClr val="0000FF"/>
                </a:solidFill>
              </a:rPr>
              <a:t>function() {</a:t>
            </a:r>
          </a:p>
          <a:p>
            <a:r>
              <a:rPr lang="zh-CN" altLang="en-US" smtClean="0">
                <a:solidFill>
                  <a:srgbClr val="0000FF"/>
                </a:solidFill>
              </a:rPr>
              <a:t>    </a:t>
            </a:r>
            <a:r>
              <a:rPr lang="en-US" altLang="zh-CN" smtClean="0">
                <a:solidFill>
                  <a:srgbClr val="008000"/>
                </a:solidFill>
              </a:rPr>
              <a:t>//</a:t>
            </a:r>
            <a:r>
              <a:rPr lang="zh-CN" altLang="en-US" smtClean="0">
                <a:solidFill>
                  <a:srgbClr val="008000"/>
                </a:solidFill>
              </a:rPr>
              <a:t>给</a:t>
            </a:r>
            <a:r>
              <a:rPr lang="en-US" altLang="zh-CN" smtClean="0">
                <a:solidFill>
                  <a:srgbClr val="008000"/>
                </a:solidFill>
              </a:rPr>
              <a:t>button</a:t>
            </a:r>
            <a:r>
              <a:rPr lang="zh-CN" altLang="en-US" smtClean="0">
                <a:solidFill>
                  <a:srgbClr val="008000"/>
                </a:solidFill>
              </a:rPr>
              <a:t>注册事件</a:t>
            </a:r>
          </a:p>
          <a:p>
            <a:r>
              <a:rPr lang="en-US" altLang="zh-CN" smtClean="0">
                <a:solidFill>
                  <a:srgbClr val="008000"/>
                </a:solidFill>
              </a:rPr>
              <a:t>    </a:t>
            </a:r>
            <a:r>
              <a:rPr lang="en-US" altLang="zh-CN" smtClean="0">
                <a:solidFill>
                  <a:srgbClr val="0000FF"/>
                </a:solidFill>
              </a:rPr>
              <a:t>var btn = $(</a:t>
            </a:r>
            <a:r>
              <a:rPr lang="en-US" altLang="zh-CN" smtClean="0">
                <a:solidFill>
                  <a:srgbClr val="A31515"/>
                </a:solidFill>
              </a:rPr>
              <a:t>"#getinfo");</a:t>
            </a:r>
          </a:p>
          <a:p>
            <a:r>
              <a:rPr lang="en-US" altLang="zh-CN" smtClean="0">
                <a:solidFill>
                  <a:srgbClr val="008000"/>
                </a:solidFill>
              </a:rPr>
              <a:t> btn.click(showinfo);</a:t>
            </a:r>
          </a:p>
          <a:p>
            <a:r>
              <a:rPr lang="en-US" altLang="zh-CN" smtClean="0">
                <a:solidFill>
                  <a:srgbClr val="008000"/>
                </a:solidFill>
              </a:rPr>
              <a:t>});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常见使用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1126462"/>
          </a:xfrm>
        </p:spPr>
        <p:txBody>
          <a:bodyPr/>
          <a:lstStyle/>
          <a:p>
            <a:r>
              <a:rPr lang="zh-CN" altLang="en-US" smtClean="0"/>
              <a:t>如何动态添加元素</a:t>
            </a:r>
            <a:r>
              <a:rPr lang="en-US" altLang="zh-CN" smtClean="0"/>
              <a:t>,并给新的元素</a:t>
            </a:r>
            <a:r>
              <a:rPr lang="zh-CN" altLang="en-US" smtClean="0"/>
              <a:t>事件注册</a:t>
            </a:r>
          </a:p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00034" y="1928802"/>
            <a:ext cx="821537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mtClean="0"/>
          </a:p>
          <a:p>
            <a:r>
              <a:rPr lang="en-US" altLang="zh-CN">
                <a:solidFill>
                  <a:srgbClr val="0000FF"/>
                </a:solidFill>
              </a:rPr>
              <a:t>$(document).ready(function() </a:t>
            </a:r>
            <a:r>
              <a:rPr lang="en-US" altLang="zh-CN" smtClean="0">
                <a:solidFill>
                  <a:srgbClr val="0000FF"/>
                </a:solidFill>
              </a:rPr>
              <a:t>{</a:t>
            </a:r>
          </a:p>
          <a:p>
            <a:r>
              <a:rPr lang="nb-NO" altLang="zh-CN" smtClean="0">
                <a:solidFill>
                  <a:srgbClr val="0000FF"/>
                </a:solidFill>
              </a:rPr>
              <a:t>    var btn = $(</a:t>
            </a:r>
            <a:r>
              <a:rPr lang="nb-NO" altLang="zh-CN" smtClean="0">
                <a:solidFill>
                  <a:srgbClr val="A31515"/>
                </a:solidFill>
              </a:rPr>
              <a:t>"&lt;input type='button'/&gt;");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    btn.val("</a:t>
            </a:r>
            <a:r>
              <a:rPr lang="zh-CN" altLang="en-US" smtClean="0">
                <a:solidFill>
                  <a:srgbClr val="A31515"/>
                </a:solidFill>
              </a:rPr>
              <a:t>动态添加的新</a:t>
            </a:r>
            <a:r>
              <a:rPr lang="en-US" altLang="zh-CN" smtClean="0">
                <a:solidFill>
                  <a:srgbClr val="A31515"/>
                </a:solidFill>
              </a:rPr>
              <a:t>Button");</a:t>
            </a:r>
          </a:p>
          <a:p>
            <a:endParaRPr lang="zh-CN" altLang="en-US" smtClean="0">
              <a:solidFill>
                <a:srgbClr val="A31515"/>
              </a:solidFill>
            </a:endParaRPr>
          </a:p>
          <a:p>
            <a:r>
              <a:rPr lang="en-US" altLang="zh-CN" smtClean="0">
                <a:solidFill>
                  <a:srgbClr val="A31515"/>
                </a:solidFill>
              </a:rPr>
              <a:t>    $("#container").append(btn);</a:t>
            </a:r>
          </a:p>
          <a:p>
            <a:r>
              <a:rPr lang="en-US" altLang="zh-CN" smtClean="0">
                <a:solidFill>
                  <a:srgbClr val="A31515"/>
                </a:solidFill>
              </a:rPr>
              <a:t>     btn.click(showinfo);</a:t>
            </a:r>
          </a:p>
          <a:p>
            <a:endParaRPr lang="zh-CN" altLang="en-US" smtClean="0">
              <a:solidFill>
                <a:srgbClr val="A31515"/>
              </a:solidFill>
            </a:endParaRPr>
          </a:p>
          <a:p>
            <a:r>
              <a:rPr lang="en-US" altLang="zh-CN" smtClean="0">
                <a:solidFill>
                  <a:srgbClr val="A31515"/>
                </a:solidFill>
              </a:rPr>
              <a:t>    </a:t>
            </a:r>
            <a:r>
              <a:rPr lang="en-US" altLang="zh-CN" smtClean="0">
                <a:solidFill>
                  <a:srgbClr val="008000"/>
                </a:solidFill>
              </a:rPr>
              <a:t>//    btn.bind("click", null, function() {</a:t>
            </a:r>
          </a:p>
          <a:p>
            <a:r>
              <a:rPr lang="en-US" altLang="zh-CN" smtClean="0">
                <a:solidFill>
                  <a:srgbClr val="008000"/>
                </a:solidFill>
              </a:rPr>
              <a:t>    //        showinfo();</a:t>
            </a:r>
          </a:p>
          <a:p>
            <a:r>
              <a:rPr lang="zh-CN" altLang="en-US" smtClean="0">
                <a:solidFill>
                  <a:srgbClr val="008000"/>
                </a:solidFill>
              </a:rPr>
              <a:t>    </a:t>
            </a:r>
            <a:r>
              <a:rPr lang="en-US" altLang="zh-CN" smtClean="0">
                <a:solidFill>
                  <a:srgbClr val="008000"/>
                </a:solidFill>
              </a:rPr>
              <a:t>//    });</a:t>
            </a:r>
          </a:p>
          <a:p>
            <a:endParaRPr lang="zh-CN" altLang="en-US" smtClean="0">
              <a:solidFill>
                <a:srgbClr val="008000"/>
              </a:solidFill>
            </a:endParaRPr>
          </a:p>
          <a:p>
            <a:r>
              <a:rPr lang="en-US" altLang="zh-CN" smtClean="0">
                <a:solidFill>
                  <a:srgbClr val="008000"/>
                </a:solidFill>
              </a:rPr>
              <a:t> //   btn.bind("click", showinfo);</a:t>
            </a:r>
          </a:p>
          <a:p>
            <a:r>
              <a:rPr lang="en-US" altLang="zh-CN" smtClean="0">
                <a:solidFill>
                  <a:srgbClr val="008000"/>
                </a:solidFill>
              </a:rPr>
              <a:t>});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常见使用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523220"/>
          </a:xfrm>
        </p:spPr>
        <p:txBody>
          <a:bodyPr/>
          <a:lstStyle/>
          <a:p>
            <a:r>
              <a:rPr lang="zh-CN" altLang="en-US" smtClean="0"/>
              <a:t>调用</a:t>
            </a:r>
            <a:r>
              <a:rPr lang="en-US" altLang="zh-CN" smtClean="0"/>
              <a:t>WebService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">
  <a:themeElements>
    <a:clrScheme name="1_Rational_BlueOnyx 1">
      <a:dk1>
        <a:srgbClr val="808080"/>
      </a:dk1>
      <a:lt1>
        <a:srgbClr val="FFFFFF"/>
      </a:lt1>
      <a:dk2>
        <a:srgbClr val="000000"/>
      </a:dk2>
      <a:lt2>
        <a:srgbClr val="CCCCFF"/>
      </a:lt2>
      <a:accent1>
        <a:srgbClr val="7889FB"/>
      </a:accent1>
      <a:accent2>
        <a:srgbClr val="DFFF66"/>
      </a:accent2>
      <a:accent3>
        <a:srgbClr val="AAAAAA"/>
      </a:accent3>
      <a:accent4>
        <a:srgbClr val="DADADA"/>
      </a:accent4>
      <a:accent5>
        <a:srgbClr val="BEC4FD"/>
      </a:accent5>
      <a:accent6>
        <a:srgbClr val="CAE75C"/>
      </a:accent6>
      <a:hlink>
        <a:srgbClr val="7889FB"/>
      </a:hlink>
      <a:folHlink>
        <a:srgbClr val="D18213"/>
      </a:folHlink>
    </a:clrScheme>
    <a:fontScheme name="1_Rational_BlueOnyx">
      <a:majorFont>
        <a:latin typeface="News Gothic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1_Rational_BlueOnyx 1">
        <a:dk1>
          <a:srgbClr val="808080"/>
        </a:dk1>
        <a:lt1>
          <a:srgbClr val="FFFFFF"/>
        </a:lt1>
        <a:dk2>
          <a:srgbClr val="000000"/>
        </a:dk2>
        <a:lt2>
          <a:srgbClr val="CCCCFF"/>
        </a:lt2>
        <a:accent1>
          <a:srgbClr val="7889FB"/>
        </a:accent1>
        <a:accent2>
          <a:srgbClr val="DFFF66"/>
        </a:accent2>
        <a:accent3>
          <a:srgbClr val="AAAAAA"/>
        </a:accent3>
        <a:accent4>
          <a:srgbClr val="DADADA"/>
        </a:accent4>
        <a:accent5>
          <a:srgbClr val="BEC4FD"/>
        </a:accent5>
        <a:accent6>
          <a:srgbClr val="CAE75C"/>
        </a:accent6>
        <a:hlink>
          <a:srgbClr val="7889FB"/>
        </a:hlink>
        <a:folHlink>
          <a:srgbClr val="D1821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tional_BlueOnyx 2">
        <a:dk1>
          <a:srgbClr val="000000"/>
        </a:dk1>
        <a:lt1>
          <a:srgbClr val="FFFFFF"/>
        </a:lt1>
        <a:dk2>
          <a:srgbClr val="CCCCFF"/>
        </a:dk2>
        <a:lt2>
          <a:srgbClr val="808080"/>
        </a:lt2>
        <a:accent1>
          <a:srgbClr val="7889FB"/>
        </a:accent1>
        <a:accent2>
          <a:srgbClr val="DFFF66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CAE75C"/>
        </a:accent6>
        <a:hlink>
          <a:srgbClr val="7889FB"/>
        </a:hlink>
        <a:folHlink>
          <a:srgbClr val="D1821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</Template>
  <TotalTime>126</TotalTime>
  <Words>429</Words>
  <Application>Microsoft Office PowerPoint</Application>
  <PresentationFormat>全屏显示(4:3)</PresentationFormat>
  <Paragraphs>99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Green</vt:lpstr>
      <vt:lpstr>jQuery</vt:lpstr>
      <vt:lpstr>版本</vt:lpstr>
      <vt:lpstr>为什么使用jQuery</vt:lpstr>
      <vt:lpstr>如何在项目中使用jQuery</vt:lpstr>
      <vt:lpstr>常见使用</vt:lpstr>
      <vt:lpstr>常见使用</vt:lpstr>
      <vt:lpstr>常见使用</vt:lpstr>
      <vt:lpstr>常见使用</vt:lpstr>
      <vt:lpstr>常见使用</vt:lpstr>
      <vt:lpstr>常见使用</vt:lpstr>
      <vt:lpstr>常见使用</vt:lpstr>
    </vt:vector>
  </TitlesOfParts>
  <Company>张波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</dc:title>
  <dc:creator>张波</dc:creator>
  <cp:lastModifiedBy>张波</cp:lastModifiedBy>
  <cp:revision>40</cp:revision>
  <dcterms:created xsi:type="dcterms:W3CDTF">2009-06-13T05:26:26Z</dcterms:created>
  <dcterms:modified xsi:type="dcterms:W3CDTF">2010-11-29T06:50:37Z</dcterms:modified>
</cp:coreProperties>
</file>